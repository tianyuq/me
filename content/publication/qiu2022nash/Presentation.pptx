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sldIdLst>
    <p:sldId id="256" r:id="rId2"/>
    <p:sldId id="423" r:id="rId3"/>
    <p:sldId id="425" r:id="rId4"/>
    <p:sldId id="424" r:id="rId5"/>
    <p:sldId id="412" r:id="rId6"/>
    <p:sldId id="413" r:id="rId7"/>
    <p:sldId id="414" r:id="rId8"/>
    <p:sldId id="416" r:id="rId9"/>
    <p:sldId id="418" r:id="rId10"/>
    <p:sldId id="420" r:id="rId11"/>
    <p:sldId id="421" r:id="rId12"/>
    <p:sldId id="28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u Tianyu" initials="QT" lastIdx="3" clrIdx="0">
    <p:extLst>
      <p:ext uri="{19B8F6BF-5375-455C-9EA6-DF929625EA0E}">
        <p15:presenceInfo xmlns:p15="http://schemas.microsoft.com/office/powerpoint/2012/main" userId="9c55aa208a8e76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95244" autoAdjust="0"/>
  </p:normalViewPr>
  <p:slideViewPr>
    <p:cSldViewPr snapToGrid="0">
      <p:cViewPr varScale="1">
        <p:scale>
          <a:sx n="86" d="100"/>
          <a:sy n="86" d="100"/>
        </p:scale>
        <p:origin x="624" y="6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F3B17-1A3C-4914-A0CC-62951563C0F3}" type="datetimeFigureOut">
              <a:rPr lang="zh-CN" altLang="en-US" smtClean="0"/>
              <a:t>2022/5/6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E1951-269D-4578-BC94-8B5F18C78A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E1951-269D-4578-BC94-8B5F18C78A5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137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211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155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777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612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642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178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694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69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169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43" y="6201296"/>
            <a:ext cx="2145857" cy="5237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149566"/>
            <a:ext cx="105156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838200" y="5114030"/>
            <a:ext cx="10515600" cy="604299"/>
          </a:xfrm>
        </p:spPr>
        <p:txBody>
          <a:bodyPr anchor="ctr">
            <a:noAutofit/>
          </a:bodyPr>
          <a:lstStyle>
            <a:lvl1pPr algn="ctr"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dirty="0"/>
              <a:t>单击此处编辑母版副标题样式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>
            <a:fillRect/>
          </a:stretch>
        </p:blipFill>
        <p:spPr>
          <a:xfrm>
            <a:off x="0" y="1"/>
            <a:ext cx="12192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/>
        </p:nvCxnSpPr>
        <p:spPr>
          <a:xfrm>
            <a:off x="0" y="389980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ARL_LOGO - 副本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20400" y="6304519"/>
            <a:ext cx="1623426" cy="437476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313151" y="865846"/>
            <a:ext cx="11508434" cy="580296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13151" y="154446"/>
            <a:ext cx="11508432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325677" y="913143"/>
            <a:ext cx="11495908" cy="572413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25677" y="203066"/>
            <a:ext cx="11495908" cy="576000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灯片编号占位符 5"/>
          <p:cNvSpPr txBox="1"/>
          <p:nvPr/>
        </p:nvSpPr>
        <p:spPr>
          <a:xfrm>
            <a:off x="11596801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z="1200" smtClean="0"/>
              <a:t>‹#›</a:t>
            </a:fld>
            <a:endParaRPr lang="zh-CN" altLang="en-US" sz="1200" dirty="0"/>
          </a:p>
        </p:txBody>
      </p:sp>
      <p:sp>
        <p:nvSpPr>
          <p:cNvPr id="9" name="文本框 8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313151" y="1685678"/>
            <a:ext cx="1150843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13151" y="974278"/>
            <a:ext cx="11508432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2"/>
            <a:ext cx="12192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矩形 9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04390"/>
            <a:ext cx="613229" cy="46008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2"/>
            <a:ext cx="12192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0" y="104390"/>
            <a:ext cx="525208" cy="460086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313151" y="1685678"/>
            <a:ext cx="1150843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13151" y="974278"/>
            <a:ext cx="11508432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2"/>
            <a:ext cx="12192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矩形 9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596801" y="313201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4DD60F-6AF7-4D67-B7FA-32E015DCA01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04390"/>
            <a:ext cx="613229" cy="46008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2"/>
            <a:ext cx="12192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矩形 12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文本框 13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0" y="104390"/>
            <a:ext cx="505958" cy="460086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1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12192000" cy="51850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12192000" cy="518506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518" y="6201296"/>
            <a:ext cx="2193982" cy="523705"/>
          </a:xfrm>
          <a:prstGeom prst="rect">
            <a:avLst/>
          </a:prstGeom>
        </p:spPr>
      </p:pic>
      <p:pic>
        <p:nvPicPr>
          <p:cNvPr id="14" name="图片 13" descr="ARL_LOGO - 副本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20400" y="6266941"/>
            <a:ext cx="1623426" cy="437476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25677" y="203067"/>
            <a:ext cx="11495908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med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25677" y="203067"/>
            <a:ext cx="11495908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 txBox="1"/>
          <p:nvPr/>
        </p:nvSpPr>
        <p:spPr>
          <a:xfrm>
            <a:off x="11595421" y="311755"/>
            <a:ext cx="596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z="1200" smtClean="0"/>
              <a:t>‹#›</a:t>
            </a:fld>
            <a:endParaRPr lang="zh-CN" altLang="en-US" sz="1200" dirty="0"/>
          </a:p>
        </p:txBody>
      </p:sp>
    </p:spTree>
  </p:cSld>
  <p:clrMapOvr>
    <a:masterClrMapping/>
  </p:clrMapOvr>
  <p:transition spd="med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2023540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1612863" cy="40141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  <p:transition spd="med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2023540" cy="401413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6801" y="313201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4DD60F-6AF7-4D67-B7FA-32E015DCA01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1593613" cy="40141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  <p:transition spd="med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929375"/>
            <a:ext cx="5376000" cy="5692142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1" y="929376"/>
            <a:ext cx="5376333" cy="5676377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858" y="187300"/>
            <a:ext cx="1140822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med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000035" y="328967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929375"/>
            <a:ext cx="5376000" cy="5660612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1" y="929375"/>
            <a:ext cx="5376333" cy="5644847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858" y="187300"/>
            <a:ext cx="11421927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49859" y="960115"/>
            <a:ext cx="5376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1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381751" y="958297"/>
            <a:ext cx="5376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2023540" cy="401413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1603238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  <p:transition spd="med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2023540" cy="401413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11000035" y="313201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49859" y="960115"/>
            <a:ext cx="5376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1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381751" y="958297"/>
            <a:ext cx="5376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595420" y="313201"/>
            <a:ext cx="649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34DD60F-6AF7-4D67-B7FA-32E015DCA01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1651364" cy="401413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  <p:transition spd="med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5498" y="4006448"/>
            <a:ext cx="11100025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5499" y="5245247"/>
            <a:ext cx="7760477" cy="468179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625499" y="5815087"/>
            <a:ext cx="5545667" cy="4990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单击此处添加日期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>
            <a:fillRect/>
          </a:stretch>
        </p:blipFill>
        <p:spPr>
          <a:xfrm>
            <a:off x="0" y="1"/>
            <a:ext cx="12192000" cy="3899805"/>
          </a:xfrm>
          <a:prstGeom prst="rect">
            <a:avLst/>
          </a:prstGeom>
          <a:ln>
            <a:noFill/>
          </a:ln>
        </p:spPr>
      </p:pic>
      <p:cxnSp>
        <p:nvCxnSpPr>
          <p:cNvPr id="11" name="直接连接符 10"/>
          <p:cNvCxnSpPr/>
          <p:nvPr/>
        </p:nvCxnSpPr>
        <p:spPr>
          <a:xfrm>
            <a:off x="0" y="389980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>
            <a:fillRect/>
          </a:stretch>
        </p:blipFill>
        <p:spPr>
          <a:xfrm>
            <a:off x="0" y="1"/>
            <a:ext cx="12192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/>
        </p:nvCxnSpPr>
        <p:spPr>
          <a:xfrm>
            <a:off x="0" y="389980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8979506" y="6425749"/>
            <a:ext cx="3049209" cy="3139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600" b="1" i="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robotics.sjtu.edu.cn</a:t>
            </a:r>
          </a:p>
        </p:txBody>
      </p:sp>
      <p:pic>
        <p:nvPicPr>
          <p:cNvPr id="12" name="图片 11" descr="ARL_LOGO - 副本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20400" y="6304519"/>
            <a:ext cx="1623426" cy="437476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12192000" cy="28117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66" y="3608990"/>
            <a:ext cx="4029124" cy="79994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50528" y="1371600"/>
            <a:ext cx="11213989" cy="926932"/>
          </a:xfrm>
        </p:spPr>
        <p:txBody>
          <a:bodyPr>
            <a:noAutofit/>
          </a:bodyPr>
          <a:lstStyle>
            <a:lvl1pPr algn="ctr"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12192000" cy="2811780"/>
          </a:xfrm>
          <a:prstGeom prst="rect">
            <a:avLst/>
          </a:prstGeom>
        </p:spPr>
      </p:pic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8979506" y="6425749"/>
            <a:ext cx="3049209" cy="3139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600" b="1" i="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robotics.sjtu.edu.cn</a:t>
            </a:r>
          </a:p>
        </p:txBody>
      </p:sp>
      <p:pic>
        <p:nvPicPr>
          <p:cNvPr id="10" name="图片 9" descr="ARL_LOGO - 副本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20400" y="6304519"/>
            <a:ext cx="1623426" cy="437476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13152" y="916584"/>
            <a:ext cx="11358702" cy="5736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2023540" cy="40141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0" y="474915"/>
            <a:ext cx="12192000" cy="332713"/>
          </a:xfrm>
          <a:prstGeom prst="rect">
            <a:avLst/>
          </a:prstGeom>
        </p:spPr>
      </p:pic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313151" y="106253"/>
            <a:ext cx="11452129" cy="701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矩形 10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2023540" cy="40141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0" y="474915"/>
            <a:ext cx="12192000" cy="3327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07/relationships/media" Target="../media/media2.mp4"/><Relationship Id="rId7" Type="http://schemas.openxmlformats.org/officeDocument/2006/relationships/image" Target="../media/image2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0.xml"/><Relationship Id="rId11" Type="http://schemas.openxmlformats.org/officeDocument/2006/relationships/image" Target="../media/image32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1.png"/><Relationship Id="rId4" Type="http://schemas.openxmlformats.org/officeDocument/2006/relationships/video" Target="../media/media2.mp4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921368"/>
            <a:ext cx="12192000" cy="1348739"/>
          </a:xfrm>
        </p:spPr>
        <p:txBody>
          <a:bodyPr/>
          <a:lstStyle/>
          <a:p>
            <a:pPr algn="l"/>
            <a:r>
              <a:rPr lang="en-US" altLang="zh-CN" sz="40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Nash Pursuit Strategy for Nonzero-Sum MPC Game</a:t>
            </a:r>
            <a: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via Inverse Optimal Control</a:t>
            </a:r>
            <a:endParaRPr lang="zh-CN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0" y="5392131"/>
            <a:ext cx="12192000" cy="860633"/>
          </a:xfrm>
        </p:spPr>
        <p:txBody>
          <a:bodyPr/>
          <a:lstStyle/>
          <a:p>
            <a:pPr marL="0" indent="0" algn="l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altLang="zh-CN" b="1" dirty="0"/>
              <a:t>Tianyu Qiu</a:t>
            </a:r>
            <a:r>
              <a:rPr lang="en-US" altLang="zh-CN" b="1" baseline="30000" dirty="0"/>
              <a:t>1</a:t>
            </a:r>
            <a:r>
              <a:rPr lang="en-US" altLang="zh-CN" b="1" dirty="0"/>
              <a:t>, Han Zhang</a:t>
            </a:r>
            <a:r>
              <a:rPr lang="en-US" altLang="zh-CN" b="1" baseline="30000" dirty="0"/>
              <a:t>1</a:t>
            </a:r>
            <a:r>
              <a:rPr lang="en-US" altLang="zh-CN" b="1" dirty="0"/>
              <a:t>, Jingchuan Wang</a:t>
            </a:r>
            <a:r>
              <a:rPr lang="en-US" altLang="zh-CN" b="1" baseline="30000" dirty="0"/>
              <a:t>1</a:t>
            </a:r>
            <a:endParaRPr lang="en-US" altLang="zh-CN" b="1" dirty="0"/>
          </a:p>
          <a:p>
            <a:pPr marL="0" indent="0" algn="l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altLang="zh-CN" b="1" baseline="30000" dirty="0"/>
              <a:t>1</a:t>
            </a:r>
            <a:r>
              <a:rPr lang="en-US" altLang="zh-CN" b="1" dirty="0"/>
              <a:t> Autonomous </a:t>
            </a:r>
            <a:r>
              <a:rPr lang="en-US" altLang="zh-CN" b="1"/>
              <a:t>Robot Lab, Shanghai </a:t>
            </a:r>
            <a:r>
              <a:rPr lang="en-US" altLang="zh-CN" b="1" dirty="0"/>
              <a:t>Jiao Tong University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13152" y="803564"/>
                <a:ext cx="9371868" cy="586525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>
                    <a:latin typeface="+mn-ea"/>
                  </a:rPr>
                  <a:t>Traditional Pursuit-Evasion Scenarios (Ideal)</a:t>
                </a:r>
              </a:p>
              <a:p>
                <a:pPr lvl="1"/>
                <a:r>
                  <a:rPr lang="en-US" altLang="zh-CN" sz="2000" dirty="0">
                    <a:highlight>
                      <a:srgbClr val="FFFF00"/>
                    </a:highlight>
                    <a:latin typeface="+mn-ea"/>
                  </a:rPr>
                  <a:t>Fixed terminal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zh-CN" sz="2000" dirty="0">
                  <a:latin typeface="+mn-ea"/>
                </a:endParaRPr>
              </a:p>
              <a:p>
                <a:pPr lvl="1"/>
                <a:r>
                  <a:rPr lang="en-US" altLang="zh-CN" sz="2000" dirty="0">
                    <a:highlight>
                      <a:srgbClr val="FFFF00"/>
                    </a:highlight>
                    <a:latin typeface="+mn-ea"/>
                  </a:rPr>
                  <a:t>Zero-sum game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,{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,{</m:t>
                                  </m:r>
                                  <m:sSup>
                                    <m:s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e>
                          </m:func>
                        </m:e>
                      </m:func>
                      <m:r>
                        <m:rPr>
                          <m:aln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en-US" altLang="zh-CN" sz="1800" dirty="0">
                  <a:latin typeface="+mn-ea"/>
                </a:endParaRPr>
              </a:p>
              <a:p>
                <a:r>
                  <a:rPr lang="en-US" altLang="zh-CN" sz="2400" dirty="0">
                    <a:latin typeface="+mn-ea"/>
                  </a:rPr>
                  <a:t>Solution——</a:t>
                </a:r>
                <a:r>
                  <a:rPr lang="en-US" altLang="zh-CN" sz="2400" dirty="0" err="1">
                    <a:latin typeface="+mn-ea"/>
                  </a:rPr>
                  <a:t>Ricatti</a:t>
                </a:r>
                <a:r>
                  <a:rPr lang="en-US" altLang="zh-CN" sz="2400" dirty="0">
                    <a:latin typeface="+mn-ea"/>
                  </a:rPr>
                  <a:t> Iteration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zh-CN" sz="2000" b="0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sz="2000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13152" y="803564"/>
                <a:ext cx="9371868" cy="5865250"/>
              </a:xfrm>
              <a:blipFill>
                <a:blip r:embed="rId3"/>
                <a:stretch>
                  <a:fillRect l="-1040" t="-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10220565" y="313201"/>
            <a:ext cx="487190" cy="27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BD5A17-3153-4A95-988E-B577C14000F1}" type="slidenum">
              <a:rPr lang="en-US" altLang="zh-CN"/>
              <a:t>2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963B35-04C6-4342-AB9A-6FB52B542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7755" y="3852130"/>
            <a:ext cx="2160000" cy="216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00A837E-F4EA-4D71-BA8E-EBEABE06CEDC}"/>
              </a:ext>
            </a:extLst>
          </p:cNvPr>
          <p:cNvSpPr txBox="1"/>
          <p:nvPr/>
        </p:nvSpPr>
        <p:spPr>
          <a:xfrm>
            <a:off x="9709379" y="5971140"/>
            <a:ext cx="199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Target Defending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D22A85-5B1A-4136-B8FE-3B8D6D1EC3FD}"/>
              </a:ext>
            </a:extLst>
          </p:cNvPr>
          <p:cNvSpPr txBox="1"/>
          <p:nvPr/>
        </p:nvSpPr>
        <p:spPr>
          <a:xfrm>
            <a:off x="9709378" y="3209876"/>
            <a:ext cx="199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Animal Hunting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B6DD0A-289D-4A5D-AB72-6A031E70F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753" y="1107585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19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13152" y="803564"/>
                <a:ext cx="11032872" cy="586525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>
                    <a:latin typeface="+mn-ea"/>
                  </a:rPr>
                  <a:t>Traditional Pursuit-Evasion Scenarios (Ideal)</a:t>
                </a:r>
              </a:p>
              <a:p>
                <a:pPr lvl="1"/>
                <a:r>
                  <a:rPr lang="en-US" altLang="zh-CN" sz="2000" dirty="0">
                    <a:highlight>
                      <a:srgbClr val="FFFF00"/>
                    </a:highlight>
                    <a:latin typeface="+mn-ea"/>
                  </a:rPr>
                  <a:t>Fixed terminal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altLang="zh-CN" sz="2000" dirty="0">
                  <a:latin typeface="+mn-ea"/>
                </a:endParaRPr>
              </a:p>
              <a:p>
                <a:pPr lvl="1"/>
                <a:r>
                  <a:rPr lang="en-US" altLang="zh-CN" sz="2000" dirty="0">
                    <a:highlight>
                      <a:srgbClr val="FFFF00"/>
                    </a:highlight>
                    <a:latin typeface="+mn-ea"/>
                  </a:rPr>
                  <a:t>Zero-sum game</a:t>
                </a:r>
              </a:p>
              <a:p>
                <a:r>
                  <a:rPr lang="en-US" altLang="zh-CN" sz="2400" dirty="0">
                    <a:latin typeface="+mn-ea"/>
                  </a:rPr>
                  <a:t>Solution——</a:t>
                </a:r>
                <a:r>
                  <a:rPr lang="en-US" altLang="zh-CN" sz="2400" dirty="0" err="1">
                    <a:latin typeface="+mn-ea"/>
                  </a:rPr>
                  <a:t>Ricatti</a:t>
                </a:r>
                <a:r>
                  <a:rPr lang="en-US" altLang="zh-CN" sz="2400" dirty="0">
                    <a:latin typeface="+mn-ea"/>
                  </a:rPr>
                  <a:t> Iteration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zh-CN" sz="2000" b="0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sz="2000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>
                  <a:latin typeface="+mn-ea"/>
                </a:endParaRPr>
              </a:p>
              <a:p>
                <a:r>
                  <a:rPr lang="en-US" altLang="zh-CN" sz="2400" dirty="0">
                    <a:latin typeface="+mn-ea"/>
                  </a:rPr>
                  <a:t>Difficulty in Real Practice</a:t>
                </a:r>
              </a:p>
              <a:p>
                <a:pPr lvl="1"/>
                <a:r>
                  <a:rPr lang="en-US" altLang="zh-CN" sz="2000" dirty="0">
                    <a:latin typeface="+mn-ea"/>
                  </a:rPr>
                  <a:t>No fixed terminal time (</a:t>
                </a:r>
                <a:r>
                  <a:rPr lang="en-US" altLang="zh-CN" sz="2000" dirty="0" err="1">
                    <a:latin typeface="+mn-ea"/>
                  </a:rPr>
                  <a:t>Riccati</a:t>
                </a:r>
                <a:r>
                  <a:rPr lang="en-US" altLang="zh-CN" sz="2000" dirty="0">
                    <a:latin typeface="+mn-ea"/>
                  </a:rPr>
                  <a:t> Iteration infeasible)</a:t>
                </a:r>
              </a:p>
              <a:p>
                <a:pPr lvl="1"/>
                <a:r>
                  <a:rPr lang="en-US" altLang="zh-CN" sz="2000" dirty="0">
                    <a:latin typeface="+mn-ea"/>
                  </a:rPr>
                  <a:t>Nonzero-sum game with incomplete information (Saddle point solution unattainable)</a:t>
                </a: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13152" y="803564"/>
                <a:ext cx="11032872" cy="5865250"/>
              </a:xfrm>
              <a:blipFill>
                <a:blip r:embed="rId3"/>
                <a:stretch>
                  <a:fillRect l="-884" t="-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10220565" y="313201"/>
            <a:ext cx="487190" cy="27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BD5A17-3153-4A95-988E-B577C14000F1}" type="slidenum">
              <a:rPr lang="en-US" altLang="zh-CN"/>
              <a:t>3</a:t>
            </a:fld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26322C-ECB6-418A-8402-CCFF43C60B14}"/>
              </a:ext>
            </a:extLst>
          </p:cNvPr>
          <p:cNvSpPr/>
          <p:nvPr/>
        </p:nvSpPr>
        <p:spPr>
          <a:xfrm>
            <a:off x="1067224" y="2889376"/>
            <a:ext cx="901535" cy="345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22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13151" y="803564"/>
            <a:ext cx="11813746" cy="5865250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+mn-ea"/>
              </a:rPr>
              <a:t>Terminal indicator function</a:t>
            </a:r>
            <a:endParaRPr lang="en-US" altLang="zh-CN" sz="1900" dirty="0">
              <a:latin typeface="+mn-ea"/>
            </a:endParaRPr>
          </a:p>
          <a:p>
            <a:endParaRPr lang="en-US" altLang="zh-CN" sz="2400" dirty="0">
              <a:latin typeface="+mn-ea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B3C68FB-CF82-44AB-A546-370984E893D0}"/>
              </a:ext>
            </a:extLst>
          </p:cNvPr>
          <p:cNvGrpSpPr/>
          <p:nvPr/>
        </p:nvGrpSpPr>
        <p:grpSpPr>
          <a:xfrm>
            <a:off x="410427" y="1291952"/>
            <a:ext cx="4118890" cy="5387658"/>
            <a:chOff x="213135" y="1306286"/>
            <a:chExt cx="4118890" cy="538765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6E1621B-F179-4F99-818F-6E92D345B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225" y="1428595"/>
              <a:ext cx="1728000" cy="172800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9CFBD38-187E-4950-AE6A-55408175B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225" y="3156595"/>
              <a:ext cx="1728000" cy="172800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B1DDEFA4-DC57-4E39-8665-59923FDC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225" y="4965944"/>
              <a:ext cx="1728000" cy="1728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454B27E-65B5-4A91-A080-92B321AF77B5}"/>
                    </a:ext>
                  </a:extLst>
                </p:cNvPr>
                <p:cNvSpPr txBox="1"/>
                <p:nvPr/>
              </p:nvSpPr>
              <p:spPr>
                <a:xfrm>
                  <a:off x="2419249" y="3534832"/>
                  <a:ext cx="1394351" cy="949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Pursuer win</a:t>
                  </a:r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=+∞</m:t>
                      </m:r>
                    </m:oMath>
                  </a14:m>
                  <a:r>
                    <a:rPr lang="zh-CN" altLang="en-US" dirty="0"/>
                    <a:t> </a:t>
                  </a:r>
                  <a:endParaRPr lang="en-US" altLang="zh-CN" dirty="0"/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454B27E-65B5-4A91-A080-92B321AF77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9249" y="3534832"/>
                  <a:ext cx="1394351" cy="949555"/>
                </a:xfrm>
                <a:prstGeom prst="rect">
                  <a:avLst/>
                </a:prstGeom>
                <a:blipFill>
                  <a:blip r:embed="rId6"/>
                  <a:stretch>
                    <a:fillRect l="-3493" t="-38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A2B24BE-7771-49A1-A671-14329B74ACA8}"/>
                    </a:ext>
                  </a:extLst>
                </p:cNvPr>
                <p:cNvSpPr txBox="1"/>
                <p:nvPr/>
              </p:nvSpPr>
              <p:spPr>
                <a:xfrm>
                  <a:off x="2419249" y="5412317"/>
                  <a:ext cx="1842220" cy="6725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Game Continue</a:t>
                  </a:r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zh-CN" altLang="en-US" dirty="0"/>
                    <a:t> </a:t>
                  </a:r>
                  <a:endParaRPr lang="en-US" altLang="zh-CN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A2B24BE-7771-49A1-A671-14329B74A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9249" y="5412317"/>
                  <a:ext cx="1842220" cy="672556"/>
                </a:xfrm>
                <a:prstGeom prst="rect">
                  <a:avLst/>
                </a:prstGeom>
                <a:blipFill>
                  <a:blip r:embed="rId7"/>
                  <a:stretch>
                    <a:fillRect l="-2649" t="-45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FDFA915-268D-49FE-9FEF-02A17A5E77B7}"/>
                </a:ext>
              </a:extLst>
            </p:cNvPr>
            <p:cNvCxnSpPr/>
            <p:nvPr/>
          </p:nvCxnSpPr>
          <p:spPr>
            <a:xfrm>
              <a:off x="213135" y="3156595"/>
              <a:ext cx="41188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642CE6F7-59AF-4034-83C2-0662C4826B03}"/>
                </a:ext>
              </a:extLst>
            </p:cNvPr>
            <p:cNvCxnSpPr/>
            <p:nvPr/>
          </p:nvCxnSpPr>
          <p:spPr>
            <a:xfrm>
              <a:off x="213135" y="4890553"/>
              <a:ext cx="41188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AE62E07-4F6D-48FD-B114-8CECF9B6810F}"/>
                </a:ext>
              </a:extLst>
            </p:cNvPr>
            <p:cNvCxnSpPr/>
            <p:nvPr/>
          </p:nvCxnSpPr>
          <p:spPr>
            <a:xfrm>
              <a:off x="2272580" y="1306286"/>
              <a:ext cx="0" cy="53625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222F2259-D10C-4C51-9867-A2C957AF0EC3}"/>
                    </a:ext>
                  </a:extLst>
                </p:cNvPr>
                <p:cNvSpPr txBox="1"/>
                <p:nvPr/>
              </p:nvSpPr>
              <p:spPr>
                <a:xfrm>
                  <a:off x="2571649" y="1970217"/>
                  <a:ext cx="1250302" cy="949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Evader win</a:t>
                  </a:r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dirty="0"/>
                    <a:t> </a:t>
                  </a:r>
                  <a:endParaRPr lang="en-US" altLang="zh-CN" dirty="0"/>
                </a:p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=+∞</m:t>
                      </m:r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222F2259-D10C-4C51-9867-A2C957AF0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1649" y="1970217"/>
                  <a:ext cx="1250302" cy="949555"/>
                </a:xfrm>
                <a:prstGeom prst="rect">
                  <a:avLst/>
                </a:prstGeom>
                <a:blipFill>
                  <a:blip r:embed="rId8"/>
                  <a:stretch>
                    <a:fillRect l="-3902" t="-3846" r="-24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Formulation</a:t>
            </a:r>
            <a:endParaRPr lang="zh-CN" alt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10220565" y="313201"/>
            <a:ext cx="487190" cy="27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BD5A17-3153-4A95-988E-B577C14000F1}" type="slidenum">
              <a:rPr lang="en-US" altLang="zh-CN"/>
              <a:t>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A13CED2-5EAF-4788-BB36-69A0C54577BC}"/>
                  </a:ext>
                </a:extLst>
              </p:cNvPr>
              <p:cNvSpPr txBox="1"/>
              <p:nvPr/>
            </p:nvSpPr>
            <p:spPr>
              <a:xfrm>
                <a:off x="4881842" y="2615049"/>
                <a:ext cx="7213663" cy="2550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p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&amp;1,   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&amp;0,   </m:t>
                              </m:r>
                              <m: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&amp;+∞,   </m:t>
                              </m:r>
                              <m: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&amp;1,   </m:t>
                              </m:r>
                              <m: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&amp;0,   </m:t>
                              </m:r>
                              <m: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&amp;+∞,   </m:t>
                              </m:r>
                              <m: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zh-CN" sz="2000" dirty="0"/>
                  <a:t>: Reaching / Capture radius of the evader and the pursuer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A13CED2-5EAF-4788-BB36-69A0C5457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842" y="2615049"/>
                <a:ext cx="7213663" cy="2550057"/>
              </a:xfrm>
              <a:prstGeom prst="rect">
                <a:avLst/>
              </a:prstGeom>
              <a:blipFill>
                <a:blip r:embed="rId9"/>
                <a:stretch>
                  <a:fillRect b="-3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F076DFAF-573A-4ACD-A299-F22554374817}"/>
              </a:ext>
            </a:extLst>
          </p:cNvPr>
          <p:cNvSpPr txBox="1"/>
          <p:nvPr/>
        </p:nvSpPr>
        <p:spPr>
          <a:xfrm>
            <a:off x="410427" y="1284165"/>
            <a:ext cx="1092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 Evader</a:t>
            </a:r>
          </a:p>
          <a:p>
            <a:r>
              <a:rPr lang="en-US" altLang="zh-CN" dirty="0"/>
              <a:t>: Pursuer</a:t>
            </a:r>
          </a:p>
          <a:p>
            <a:r>
              <a:rPr lang="en-US" altLang="zh-CN" dirty="0"/>
              <a:t>: Goal</a:t>
            </a:r>
            <a:r>
              <a:rPr lang="zh-CN" altLang="en-US" dirty="0"/>
              <a:t> 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22AE51C-EC8D-401C-8A15-546DEC179A45}"/>
              </a:ext>
            </a:extLst>
          </p:cNvPr>
          <p:cNvSpPr/>
          <p:nvPr/>
        </p:nvSpPr>
        <p:spPr>
          <a:xfrm>
            <a:off x="282631" y="167482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FEBB24E-9959-448D-A268-3B47ECDAA1F2}"/>
              </a:ext>
            </a:extLst>
          </p:cNvPr>
          <p:cNvSpPr/>
          <p:nvPr/>
        </p:nvSpPr>
        <p:spPr>
          <a:xfrm>
            <a:off x="282631" y="1408304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72BB2565-7861-43F0-A990-414CEB0F9840}"/>
              </a:ext>
            </a:extLst>
          </p:cNvPr>
          <p:cNvSpPr/>
          <p:nvPr/>
        </p:nvSpPr>
        <p:spPr>
          <a:xfrm>
            <a:off x="282631" y="1935706"/>
            <a:ext cx="180000" cy="180000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6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13151" y="803564"/>
                <a:ext cx="11813746" cy="586525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>
                    <a:latin typeface="+mn-ea"/>
                  </a:rPr>
                  <a:t>Decoupled  pursuit-evasion game with terminal condition (DPEG)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,{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e>
                      </m:func>
                      <m:r>
                        <m:rPr>
                          <m:aln/>
                        </m:rP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.   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,{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e>
                      </m:func>
                      <m:r>
                        <m:rPr>
                          <m:aln/>
                        </m:rP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.   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lvl="1"/>
                <a:r>
                  <a:rPr lang="en-US" altLang="zh-CN" dirty="0">
                    <a:latin typeface="+mn-ea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0≤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0≤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zh-CN" dirty="0">
                    <a:latin typeface="+mn-ea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0≤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+mn-ea"/>
                  </a:rPr>
                  <a:t> Top priority to </a:t>
                </a:r>
                <a:r>
                  <a:rPr lang="en-US" altLang="zh-CN" dirty="0">
                    <a:highlight>
                      <a:srgbClr val="FFFF00"/>
                    </a:highlight>
                    <a:latin typeface="+mn-ea"/>
                  </a:rPr>
                  <a:t>reach the target </a:t>
                </a:r>
                <a:r>
                  <a:rPr lang="en-US" altLang="zh-CN" dirty="0">
                    <a:latin typeface="+mn-ea"/>
                  </a:rPr>
                  <a:t>over avoidance from the pursuer.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0≤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0≤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en-US" altLang="zh-CN" dirty="0">
                    <a:highlight>
                      <a:srgbClr val="FFFF00"/>
                    </a:highlight>
                    <a:latin typeface="+mn-ea"/>
                  </a:rPr>
                  <a:t>Convex Model</a:t>
                </a:r>
              </a:p>
              <a:p>
                <a:r>
                  <a:rPr lang="en-US" altLang="zh-CN" sz="2400" dirty="0">
                    <a:latin typeface="+mn-ea"/>
                  </a:rPr>
                  <a:t>Difficulty</a:t>
                </a:r>
              </a:p>
              <a:p>
                <a:pPr lvl="1"/>
                <a:r>
                  <a:rPr lang="en-US" altLang="zh-CN" sz="2200" dirty="0">
                    <a:highlight>
                      <a:srgbClr val="FFFF00"/>
                    </a:highlight>
                    <a:latin typeface="+mn-ea"/>
                  </a:rPr>
                  <a:t>Non-smooth</a:t>
                </a:r>
                <a:r>
                  <a:rPr lang="en-US" altLang="zh-CN" sz="2200" dirty="0">
                    <a:latin typeface="+mn-ea"/>
                  </a:rPr>
                  <a:t> cost functions.</a:t>
                </a: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13151" y="803564"/>
                <a:ext cx="11813746" cy="5865250"/>
              </a:xfrm>
              <a:blipFill>
                <a:blip r:embed="rId3"/>
                <a:stretch>
                  <a:fillRect l="-826" t="-208" b="-1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Formulation</a:t>
            </a:r>
            <a:endParaRPr lang="zh-CN" alt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10220565" y="313201"/>
            <a:ext cx="487190" cy="27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BD5A17-3153-4A95-988E-B577C14000F1}" type="slidenum">
              <a:rPr lang="en-US" altLang="zh-CN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7238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13151" y="803564"/>
                <a:ext cx="11813746" cy="586525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>
                    <a:latin typeface="+mn-ea"/>
                  </a:rPr>
                  <a:t>Difficulty</a:t>
                </a:r>
              </a:p>
              <a:p>
                <a:pPr lvl="1"/>
                <a:r>
                  <a:rPr lang="en-US" altLang="zh-CN" sz="2000" dirty="0">
                    <a:highlight>
                      <a:srgbClr val="FFFF00"/>
                    </a:highlight>
                    <a:latin typeface="+mn-ea"/>
                  </a:rPr>
                  <a:t>Non-smooth</a:t>
                </a:r>
                <a:r>
                  <a:rPr lang="en-US" altLang="zh-CN" sz="2000" dirty="0">
                    <a:latin typeface="+mn-ea"/>
                  </a:rPr>
                  <a:t> cost functions.</a:t>
                </a:r>
              </a:p>
              <a:p>
                <a:r>
                  <a:rPr lang="en-US" altLang="zh-CN" sz="2400" dirty="0">
                    <a:latin typeface="+mn-ea"/>
                  </a:rPr>
                  <a:t>MPC-DPEG</a:t>
                </a:r>
              </a:p>
              <a:p>
                <a:pPr lvl="1"/>
                <a:r>
                  <a:rPr lang="en-US" altLang="zh-CN" sz="2000" dirty="0">
                    <a:latin typeface="+mn-ea"/>
                  </a:rPr>
                  <a:t>At any time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 when the game is not ended, i.e.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p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p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20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</m:e>
                              </m:d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</m:e>
                      </m:func>
                      <m:r>
                        <m:rPr>
                          <m:aln/>
                        </m:rP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.   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+1|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</m:e>
                              </m:d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</m:e>
                      </m:func>
                      <m:r>
                        <m:rPr>
                          <m:aln/>
                        </m:rP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.   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+1|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lvl="1"/>
                <a:r>
                  <a:rPr lang="en-US" altLang="zh-CN" sz="2000" dirty="0">
                    <a:highlight>
                      <a:srgbClr val="FFFF00"/>
                    </a:highlight>
                    <a:latin typeface="+mn-ea"/>
                  </a:rPr>
                  <a:t>Linear quadratic </a:t>
                </a:r>
                <a:r>
                  <a:rPr lang="en-US" altLang="zh-CN" sz="2000" dirty="0">
                    <a:latin typeface="+mn-ea"/>
                  </a:rPr>
                  <a:t>game model</a:t>
                </a: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13151" y="803564"/>
                <a:ext cx="11813746" cy="5865250"/>
              </a:xfrm>
              <a:blipFill>
                <a:blip r:embed="rId3"/>
                <a:stretch>
                  <a:fillRect l="-826" t="-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Formulation</a:t>
            </a:r>
            <a:endParaRPr lang="zh-CN" alt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10220565" y="313201"/>
            <a:ext cx="487190" cy="27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BD5A17-3153-4A95-988E-B577C14000F1}" type="slidenum">
              <a:rPr lang="en-US" altLang="zh-CN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6920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13151" y="803564"/>
                <a:ext cx="11813746" cy="586525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b="1" dirty="0">
                    <a:latin typeface="+mn-ea"/>
                  </a:rPr>
                  <a:t>Definition</a:t>
                </a:r>
                <a:r>
                  <a:rPr lang="en-US" altLang="zh-CN" sz="2400" dirty="0">
                    <a:latin typeface="+mn-ea"/>
                  </a:rPr>
                  <a:t>: </a:t>
                </a:r>
                <a:r>
                  <a:rPr lang="en-US" altLang="zh-CN" sz="2200" dirty="0">
                    <a:latin typeface="+mn-ea"/>
                  </a:rPr>
                  <a:t>The pair of control input sequences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200" dirty="0">
                    <a:latin typeface="+mn-ea"/>
                  </a:rPr>
                  <a:t> reach the Nash Equilibrium for MPC-DPEG if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,⋯</m:t>
                                      </m:r>
                                    </m:e>
                                  </m:d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,⋯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&amp;≤&amp;</m:t>
                              </m:r>
                              <m:sSubSup>
                                <m:sSubSup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,⋯</m:t>
                                      </m:r>
                                    </m:e>
                                  </m:d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,⋯</m:t>
                                      </m:r>
                                    </m:e>
                                  </m:d>
                                </m:e>
                              </m:d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,⋯</m:t>
                                      </m:r>
                                    </m:e>
                                  </m:d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,⋯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&amp;≤&amp;</m:t>
                              </m:r>
                              <m:sSubSup>
                                <m:sSubSup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,⋯</m:t>
                                      </m:r>
                                    </m:e>
                                  </m:d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+1|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,⋯</m:t>
                                      </m:r>
                                    </m:e>
                                  </m:d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r>
                  <a:rPr lang="en-US" altLang="zh-CN" sz="2400" b="1" dirty="0">
                    <a:latin typeface="+mn-ea"/>
                  </a:rPr>
                  <a:t>Proposition</a:t>
                </a:r>
                <a:r>
                  <a:rPr lang="en-US" altLang="zh-CN" sz="2400" dirty="0">
                    <a:latin typeface="+mn-ea"/>
                  </a:rPr>
                  <a:t>: </a:t>
                </a:r>
                <a:r>
                  <a:rPr lang="en-US" altLang="zh-CN" sz="2200" dirty="0">
                    <a:latin typeface="+mn-ea"/>
                  </a:rPr>
                  <a:t>For MPC-DPEG, the open-loop Nash strategy satisfies the linear matrix equation</a:t>
                </a:r>
                <a:endParaRPr lang="en-US" altLang="zh-CN" sz="2200" b="0" i="1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ℱ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p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+1,⋯</m:t>
                      </m:r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>
                    <a:latin typeface="+mn-ea"/>
                  </a:rPr>
                  <a:t>: Coefficient matrix </a:t>
                </a:r>
                <a:r>
                  <a:rPr lang="en-US" altLang="zh-CN" dirty="0">
                    <a:highlight>
                      <a:srgbClr val="FFFF00"/>
                    </a:highlight>
                    <a:latin typeface="+mn-ea"/>
                  </a:rPr>
                  <a:t>parameterized by weighting parameters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+mn-ea"/>
                  </a:rPr>
                  <a:t>: Optimal state &amp; control vector containing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+1|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sz="2000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000" dirty="0">
                    <a:latin typeface="+mn-ea"/>
                  </a:rPr>
                  <a:t>: Constant matrix containing </a:t>
                </a:r>
                <a:r>
                  <a:rPr lang="en-US" altLang="zh-CN" sz="2000" dirty="0">
                    <a:highlight>
                      <a:srgbClr val="FFFF00"/>
                    </a:highlight>
                    <a:latin typeface="+mn-ea"/>
                  </a:rPr>
                  <a:t>current information</a:t>
                </a:r>
                <a:r>
                  <a:rPr lang="en-US" altLang="zh-CN" sz="2000" dirty="0">
                    <a:latin typeface="+mn-ea"/>
                  </a:rPr>
                  <a:t>, </a:t>
                </a:r>
                <a:r>
                  <a:rPr lang="en-US" altLang="zh-CN" sz="2000" dirty="0">
                    <a:highlight>
                      <a:srgbClr val="FFFF00"/>
                    </a:highlight>
                    <a:latin typeface="+mn-ea"/>
                  </a:rPr>
                  <a:t>parameterized by weighting parameters</a:t>
                </a:r>
              </a:p>
              <a:p>
                <a:r>
                  <a:rPr lang="en-US" altLang="zh-CN" sz="2400" dirty="0">
                    <a:latin typeface="+mn-ea"/>
                  </a:rPr>
                  <a:t>Difficulty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n-US" altLang="zh-CN" sz="2000" dirty="0">
                    <a:latin typeface="+mn-ea"/>
                  </a:rPr>
                  <a:t> unknown——</a:t>
                </a:r>
                <a:r>
                  <a:rPr lang="en-US" altLang="zh-CN" sz="2000" dirty="0">
                    <a:highlight>
                      <a:srgbClr val="FFFF00"/>
                    </a:highlight>
                    <a:latin typeface="+mn-ea"/>
                  </a:rPr>
                  <a:t>incomplete information</a:t>
                </a:r>
              </a:p>
              <a:p>
                <a:pPr marL="0" indent="0">
                  <a:buNone/>
                </a:pPr>
                <a:endParaRPr lang="en-US" altLang="zh-CN" sz="18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13151" y="803564"/>
                <a:ext cx="11813746" cy="5865250"/>
              </a:xfrm>
              <a:blipFill>
                <a:blip r:embed="rId3"/>
                <a:stretch>
                  <a:fillRect l="-826" r="-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Nash Strategy for MPC-DPEG</a:t>
            </a:r>
            <a:endParaRPr lang="zh-CN" alt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10220565" y="313201"/>
            <a:ext cx="487190" cy="27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BD5A17-3153-4A95-988E-B577C14000F1}" type="slidenum">
              <a:rPr lang="en-US" altLang="zh-CN"/>
              <a:t>7</a:t>
            </a:fld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53FD68-F728-4481-A5F0-137E6BADD80C}"/>
              </a:ext>
            </a:extLst>
          </p:cNvPr>
          <p:cNvSpPr/>
          <p:nvPr/>
        </p:nvSpPr>
        <p:spPr>
          <a:xfrm>
            <a:off x="3371886" y="2058952"/>
            <a:ext cx="1501380" cy="345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0B3C2E-65D0-45E5-8A88-413FC677AE83}"/>
              </a:ext>
            </a:extLst>
          </p:cNvPr>
          <p:cNvSpPr/>
          <p:nvPr/>
        </p:nvSpPr>
        <p:spPr>
          <a:xfrm>
            <a:off x="7096912" y="2058951"/>
            <a:ext cx="1501380" cy="34523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67DB0E-674C-448C-8EA3-90CAEBB8B433}"/>
              </a:ext>
            </a:extLst>
          </p:cNvPr>
          <p:cNvSpPr/>
          <p:nvPr/>
        </p:nvSpPr>
        <p:spPr>
          <a:xfrm>
            <a:off x="7096912" y="2442910"/>
            <a:ext cx="1501380" cy="41803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61C35E-F71A-464E-94BB-0A936B41CCAE}"/>
              </a:ext>
            </a:extLst>
          </p:cNvPr>
          <p:cNvSpPr/>
          <p:nvPr/>
        </p:nvSpPr>
        <p:spPr>
          <a:xfrm>
            <a:off x="3378104" y="2446460"/>
            <a:ext cx="1501380" cy="418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6AC009-4A65-4467-85ED-C2C515E29206}"/>
              </a:ext>
            </a:extLst>
          </p:cNvPr>
          <p:cNvSpPr/>
          <p:nvPr/>
        </p:nvSpPr>
        <p:spPr>
          <a:xfrm>
            <a:off x="6403910" y="908180"/>
            <a:ext cx="1651518" cy="418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97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13151" y="803564"/>
                <a:ext cx="7266209" cy="586525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>
                    <a:latin typeface="+mn-ea"/>
                  </a:rPr>
                  <a:t>Difficulty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n-US" altLang="zh-CN" sz="2000" dirty="0">
                    <a:latin typeface="+mn-ea"/>
                  </a:rPr>
                  <a:t> unknown——</a:t>
                </a:r>
                <a:r>
                  <a:rPr lang="en-US" altLang="zh-CN" sz="2000" dirty="0">
                    <a:highlight>
                      <a:srgbClr val="FFFF00"/>
                    </a:highlight>
                    <a:latin typeface="+mn-ea"/>
                  </a:rPr>
                  <a:t>incomplete information</a:t>
                </a:r>
                <a:endParaRPr lang="en-US" altLang="zh-CN" sz="2400" dirty="0">
                  <a:latin typeface="+mn-ea"/>
                </a:endParaRPr>
              </a:p>
              <a:p>
                <a:r>
                  <a:rPr lang="en-US" altLang="zh-CN" sz="2400" dirty="0">
                    <a:latin typeface="+mn-ea"/>
                  </a:rPr>
                  <a:t>Inverse Optimal Control</a:t>
                </a:r>
              </a:p>
              <a:p>
                <a:pPr lvl="1"/>
                <a:r>
                  <a:rPr lang="en-US" altLang="zh-CN" sz="2000" dirty="0">
                    <a:latin typeface="+mn-ea"/>
                  </a:rPr>
                  <a:t>Estimate weighting parameters based on optimal strategy</a:t>
                </a:r>
              </a:p>
              <a:p>
                <a:r>
                  <a:rPr lang="en-US" altLang="zh-CN" sz="2400" dirty="0">
                    <a:latin typeface="+mn-ea"/>
                  </a:rPr>
                  <a:t>Estimation of the evader’s cost function</a:t>
                </a:r>
                <a:endParaRPr lang="en-US" altLang="zh-CN" sz="2000" strike="sngStrike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8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800" i="1" dirty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  <m:r>
                                        <a:rPr lang="en-US" altLang="zh-CN" sz="1800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18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</m:lim>
                          </m:limLow>
                        </m:fName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𝑜𝑠𝑠</m:t>
                          </m:r>
                        </m:e>
                      </m:func>
                      <m:r>
                        <m:rPr>
                          <m:aln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  <m: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altLang="zh-CN" sz="1800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  <m: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CN" sz="1800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  0≤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ℱ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18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1800" dirty="0">
                    <a:latin typeface="+mn-ea"/>
                  </a:rPr>
                  <a:t>: all time steps in the game</a:t>
                </a: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13151" y="803564"/>
                <a:ext cx="7266209" cy="5865250"/>
              </a:xfrm>
              <a:blipFill>
                <a:blip r:embed="rId3"/>
                <a:stretch>
                  <a:fillRect l="-1342" t="-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IOC Technique</a:t>
            </a:r>
            <a:endParaRPr lang="zh-CN" alt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10220565" y="313201"/>
            <a:ext cx="487190" cy="27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BD5A17-3153-4A95-988E-B577C14000F1}" type="slidenum">
              <a:rPr lang="en-US" altLang="zh-CN"/>
              <a:t>8</a:t>
            </a:fld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D03C25-3FD2-416E-96F9-C4817DE9A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957" y="887385"/>
            <a:ext cx="3352483" cy="499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4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13151" y="803564"/>
                <a:ext cx="6451171" cy="586525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400" dirty="0">
                    <a:latin typeface="+mn-ea"/>
                  </a:rPr>
                  <a:t>Experiment Setup: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altLang="zh-CN" sz="2400" dirty="0">
                    <a:latin typeface="+mn-ea"/>
                  </a:rPr>
                  <a:t> random scenarios</a:t>
                </a:r>
              </a:p>
              <a:p>
                <a:pPr lvl="1"/>
                <a:r>
                  <a:rPr lang="en-US" altLang="zh-CN" sz="2000" dirty="0">
                    <a:latin typeface="+mn-ea"/>
                  </a:rPr>
                  <a:t>Target: the origin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(0,0)</m:t>
                    </m:r>
                  </m:oMath>
                </a14:m>
                <a:endParaRPr lang="en-US" altLang="zh-CN" sz="2000" dirty="0">
                  <a:latin typeface="+mn-ea"/>
                </a:endParaRPr>
              </a:p>
              <a:p>
                <a:pPr lvl="1"/>
                <a:r>
                  <a:rPr lang="en-US" altLang="zh-CN" sz="2000" dirty="0">
                    <a:latin typeface="+mn-ea"/>
                  </a:rPr>
                  <a:t>Pursuer Starting Position:</a:t>
                </a:r>
              </a:p>
              <a:p>
                <a:pPr lvl="2"/>
                <a:r>
                  <a:rPr lang="en-US" altLang="zh-CN" dirty="0">
                    <a:latin typeface="+mn-ea"/>
                  </a:rPr>
                  <a:t>Uniformly distributed on a circle centered at the origin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𝑟𝑎𝑑𝑖𝑢𝑠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altLang="zh-CN" dirty="0">
                    <a:latin typeface="+mn-ea"/>
                  </a:rPr>
                  <a:t>.</a:t>
                </a:r>
              </a:p>
              <a:p>
                <a:pPr lvl="1"/>
                <a:r>
                  <a:rPr lang="en-US" altLang="zh-CN" sz="2000" dirty="0">
                    <a:latin typeface="+mn-ea"/>
                  </a:rPr>
                  <a:t>Evader Starting Position:</a:t>
                </a:r>
              </a:p>
              <a:p>
                <a:pPr lvl="2"/>
                <a:r>
                  <a:rPr lang="en-US" altLang="zh-CN" dirty="0">
                    <a:latin typeface="+mn-ea"/>
                  </a:rPr>
                  <a:t>Uniformly distributed on a circle centered at the origin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𝑟𝑎𝑑𝑖𝑢𝑠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altLang="zh-CN" dirty="0">
                    <a:latin typeface="+mn-ea"/>
                  </a:rPr>
                  <a:t>.</a:t>
                </a:r>
              </a:p>
              <a:p>
                <a:pPr lvl="1"/>
                <a:r>
                  <a:rPr lang="en-US" altLang="zh-CN" sz="1800" dirty="0">
                    <a:latin typeface="+mn-ea"/>
                  </a:rPr>
                  <a:t>Evader: Optimal strategy</a:t>
                </a:r>
              </a:p>
              <a:p>
                <a:pPr lvl="1"/>
                <a:r>
                  <a:rPr lang="en-US" altLang="zh-CN" sz="1800" dirty="0">
                    <a:effectLst/>
                    <a:latin typeface="+mn-ea"/>
                  </a:rPr>
                  <a:t>Pursuer: Naïve pursuit strategy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  <m:r>
                      <a:rPr lang="en-US" altLang="zh-CN" sz="18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effectLst/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8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18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800" b="0" i="1" smtClean="0"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bSup>
                      </m:e>
                    </m:d>
                    <m:r>
                      <a:rPr lang="en-US" altLang="zh-CN" sz="1800" b="0" i="1" smtClean="0"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800" b="0" i="1" smtClean="0">
                        <a:effectLst/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8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US" altLang="zh-CN" dirty="0">
                  <a:latin typeface="+mn-ea"/>
                </a:endParaRPr>
              </a:p>
              <a:p>
                <a:r>
                  <a:rPr lang="en-US" altLang="zh-CN" dirty="0">
                    <a:latin typeface="+mn-ea"/>
                  </a:rPr>
                  <a:t>IOC Results</a:t>
                </a:r>
              </a:p>
              <a:p>
                <a:pPr lvl="1"/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13151" y="803564"/>
                <a:ext cx="6451171" cy="5865250"/>
              </a:xfrm>
              <a:blipFill>
                <a:blip r:embed="rId3"/>
                <a:stretch>
                  <a:fillRect l="-1511" t="-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Numerical Examples</a:t>
            </a:r>
            <a:endParaRPr lang="zh-CN" alt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10220565" y="313201"/>
            <a:ext cx="487190" cy="27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BD5A17-3153-4A95-988E-B577C14000F1}" type="slidenum">
              <a:rPr lang="en-US" altLang="zh-CN"/>
              <a:t>9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E1B17F-8576-4D0E-8DC7-41FC0DE93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134" y="1282088"/>
            <a:ext cx="5266715" cy="42938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CC29F62-C070-47C9-A1ED-906D9A6EF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492" y="5342220"/>
            <a:ext cx="471487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3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13151" y="803564"/>
            <a:ext cx="11813746" cy="586525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latin typeface="+mn-ea"/>
              </a:rPr>
              <a:t>Stats for 100 scenarios</a:t>
            </a:r>
            <a:endParaRPr lang="en-US" altLang="zh-CN" sz="2000" dirty="0">
              <a:latin typeface="+mn-ea"/>
            </a:endParaRPr>
          </a:p>
          <a:p>
            <a:pPr marL="457200" lvl="1" indent="0">
              <a:buNone/>
            </a:pPr>
            <a:endParaRPr lang="en-US" altLang="zh-CN" sz="2000" dirty="0">
              <a:latin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Naïve Strategy </a:t>
            </a:r>
            <a:r>
              <a:rPr lang="en-US" altLang="zh-CN" dirty="0" err="1"/>
              <a:t>v.s</a:t>
            </a:r>
            <a:r>
              <a:rPr lang="en-US" altLang="zh-CN" dirty="0"/>
              <a:t>. Nash Strategy</a:t>
            </a:r>
            <a:endParaRPr lang="zh-CN" alt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10220565" y="313201"/>
            <a:ext cx="487190" cy="27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BD5A17-3153-4A95-988E-B577C14000F1}" type="slidenum">
              <a:rPr lang="en-US" altLang="zh-CN"/>
              <a:t>10</a:t>
            </a:fld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8295940-D277-4AF1-8A13-8D1F909956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51" y="1300903"/>
            <a:ext cx="4666621" cy="260119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16C8075-787F-4DEA-882F-A11E5714C1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151" y="3902097"/>
            <a:ext cx="4666623" cy="255460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F87CB58-D35F-4B79-9349-1377D7FC61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3541" y="5418479"/>
            <a:ext cx="4495800" cy="1038225"/>
          </a:xfrm>
          <a:prstGeom prst="rect">
            <a:avLst/>
          </a:prstGeom>
        </p:spPr>
      </p:pic>
      <p:pic>
        <p:nvPicPr>
          <p:cNvPr id="6" name="data15(1)">
            <a:hlinkClick r:id="" action="ppaction://media"/>
            <a:extLst>
              <a:ext uri="{FF2B5EF4-FFF2-40B4-BE49-F238E27FC236}">
                <a16:creationId xmlns:a16="http://schemas.microsoft.com/office/drawing/2014/main" id="{216C0440-1553-4CA6-8747-1EF428AC5B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516452" y="1300903"/>
            <a:ext cx="3036881" cy="3036881"/>
          </a:xfrm>
          <a:prstGeom prst="rect">
            <a:avLst/>
          </a:prstGeom>
        </p:spPr>
      </p:pic>
      <p:pic>
        <p:nvPicPr>
          <p:cNvPr id="7" name="datares(1)">
            <a:hlinkClick r:id="" action="ppaction://media"/>
            <a:extLst>
              <a:ext uri="{FF2B5EF4-FFF2-40B4-BE49-F238E27FC236}">
                <a16:creationId xmlns:a16="http://schemas.microsoft.com/office/drawing/2014/main" id="{C72FB3A9-3904-45A9-948B-332EA3C3662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784702" y="1289614"/>
            <a:ext cx="3036881" cy="303688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9DE81F3-11EA-4EB4-98D8-712759A8A742}"/>
              </a:ext>
            </a:extLst>
          </p:cNvPr>
          <p:cNvSpPr txBox="1"/>
          <p:nvPr/>
        </p:nvSpPr>
        <p:spPr>
          <a:xfrm>
            <a:off x="5824817" y="4337784"/>
            <a:ext cx="2422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Nash Strategy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DCA6D3-8382-4503-ABAA-3A8FEAF69838}"/>
              </a:ext>
            </a:extLst>
          </p:cNvPr>
          <p:cNvSpPr txBox="1"/>
          <p:nvPr/>
        </p:nvSpPr>
        <p:spPr>
          <a:xfrm>
            <a:off x="9092048" y="4337784"/>
            <a:ext cx="2422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Naïve Strategy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975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8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48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remove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5" repeatCount="indefinite" fill="remove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13151" y="803564"/>
            <a:ext cx="11508432" cy="5865250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latin typeface="+mn-ea"/>
              </a:rPr>
              <a:t>Motivation</a:t>
            </a:r>
          </a:p>
          <a:p>
            <a:pPr lvl="1"/>
            <a:r>
              <a:rPr lang="en-US" altLang="zh-CN" sz="2200" dirty="0">
                <a:latin typeface="+mn-ea"/>
              </a:rPr>
              <a:t>Ideal model not able to depict the real practice</a:t>
            </a:r>
          </a:p>
          <a:p>
            <a:r>
              <a:rPr lang="en-US" altLang="zh-CN" sz="2400" dirty="0">
                <a:latin typeface="+mn-ea"/>
              </a:rPr>
              <a:t>Contribution</a:t>
            </a:r>
          </a:p>
          <a:p>
            <a:pPr lvl="1"/>
            <a:r>
              <a:rPr lang="en-US" altLang="zh-CN" sz="2200" dirty="0">
                <a:latin typeface="+mn-ea"/>
              </a:rPr>
              <a:t>Formulate a DPEG model with terminal condition &amp; incomplete information</a:t>
            </a:r>
          </a:p>
          <a:p>
            <a:pPr lvl="1"/>
            <a:r>
              <a:rPr lang="en-US" altLang="zh-CN" sz="2200" dirty="0">
                <a:latin typeface="+mn-ea"/>
              </a:rPr>
              <a:t>Apply MPC to </a:t>
            </a:r>
            <a:r>
              <a:rPr lang="en-US" altLang="zh-CN" sz="2200" dirty="0">
                <a:highlight>
                  <a:srgbClr val="FFFF00"/>
                </a:highlight>
                <a:latin typeface="+mn-ea"/>
              </a:rPr>
              <a:t>address the non-smooth cost function</a:t>
            </a:r>
            <a:r>
              <a:rPr lang="en-US" altLang="zh-CN" sz="2200" dirty="0">
                <a:latin typeface="+mn-ea"/>
              </a:rPr>
              <a:t>.</a:t>
            </a:r>
          </a:p>
          <a:p>
            <a:pPr lvl="1"/>
            <a:r>
              <a:rPr lang="en-US" altLang="zh-CN" sz="2200" dirty="0">
                <a:latin typeface="+mn-ea"/>
              </a:rPr>
              <a:t>Apply IOC to </a:t>
            </a:r>
            <a:r>
              <a:rPr lang="en-US" altLang="zh-CN" sz="2200" dirty="0">
                <a:highlight>
                  <a:srgbClr val="FFFF00"/>
                </a:highlight>
                <a:latin typeface="+mn-ea"/>
              </a:rPr>
              <a:t>estimate the unknown weighting parameters</a:t>
            </a:r>
            <a:r>
              <a:rPr lang="en-US" altLang="zh-CN" sz="2200" dirty="0">
                <a:latin typeface="+mn-ea"/>
              </a:rPr>
              <a:t>.</a:t>
            </a:r>
          </a:p>
          <a:p>
            <a:r>
              <a:rPr lang="en-US" altLang="zh-CN" sz="2400" dirty="0">
                <a:latin typeface="+mn-ea"/>
              </a:rPr>
              <a:t>Future work</a:t>
            </a:r>
          </a:p>
          <a:p>
            <a:pPr lvl="1"/>
            <a:r>
              <a:rPr lang="en-US" altLang="zh-CN" sz="2200" dirty="0">
                <a:latin typeface="+mn-ea"/>
              </a:rPr>
              <a:t>Generalization to more complicated scenarios</a:t>
            </a:r>
          </a:p>
          <a:p>
            <a:pPr lvl="2"/>
            <a:r>
              <a:rPr lang="en-US" altLang="zh-CN" sz="2000" dirty="0">
                <a:latin typeface="+mn-ea"/>
              </a:rPr>
              <a:t>Constrained environment</a:t>
            </a:r>
          </a:p>
          <a:p>
            <a:pPr lvl="2"/>
            <a:r>
              <a:rPr lang="en-US" altLang="zh-CN" sz="2000" dirty="0">
                <a:latin typeface="+mn-ea"/>
              </a:rPr>
              <a:t>Team of pursuers </a:t>
            </a:r>
            <a:r>
              <a:rPr lang="en-US" altLang="zh-CN" sz="2000" dirty="0" err="1">
                <a:latin typeface="+mn-ea"/>
              </a:rPr>
              <a:t>v.s</a:t>
            </a:r>
            <a:r>
              <a:rPr lang="en-US" altLang="zh-CN" sz="2000" dirty="0">
                <a:latin typeface="+mn-ea"/>
              </a:rPr>
              <a:t>. Team of evaders</a:t>
            </a:r>
          </a:p>
          <a:p>
            <a:pPr lvl="2"/>
            <a:r>
              <a:rPr lang="en-US" altLang="zh-CN" sz="2000" dirty="0">
                <a:latin typeface="+mn-ea"/>
              </a:rPr>
              <a:t>Changing number of players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  <a:endParaRPr lang="zh-CN" altLang="en-US" dirty="0"/>
          </a:p>
        </p:txBody>
      </p:sp>
      <p:sp>
        <p:nvSpPr>
          <p:cNvPr id="4" name="灯片编号占位符 3"/>
          <p:cNvSpPr txBox="1"/>
          <p:nvPr/>
        </p:nvSpPr>
        <p:spPr>
          <a:xfrm>
            <a:off x="10220565" y="313201"/>
            <a:ext cx="487190" cy="27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BD5A17-3153-4A95-988E-B577C14000F1}" type="slidenum">
              <a:rPr lang="en-US" altLang="zh-CN"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8173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dirty="0">
                <a:latin typeface="+mn-ea"/>
              </a:rPr>
              <a:t>Thank you</a:t>
            </a:r>
            <a:r>
              <a:rPr lang="zh-CN" altLang="en-US" sz="5400" dirty="0">
                <a:latin typeface="+mn-ea"/>
              </a:rPr>
              <a:t>！</a:t>
            </a:r>
            <a:endParaRPr lang="zh-CN" altLang="en-US" sz="5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实验室PPT模板中文">
  <a:themeElements>
    <a:clrScheme name="VI蓝色版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338D27"/>
      </a:accent3>
      <a:accent4>
        <a:srgbClr val="00514E"/>
      </a:accent4>
      <a:accent5>
        <a:srgbClr val="FDD000"/>
      </a:accent5>
      <a:accent6>
        <a:srgbClr val="F08300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实验室PPT模板中文</Template>
  <TotalTime>5869</TotalTime>
  <Words>796</Words>
  <Application>Microsoft Office PowerPoint</Application>
  <PresentationFormat>宽屏</PresentationFormat>
  <Paragraphs>122</Paragraphs>
  <Slides>12</Slides>
  <Notes>11</Notes>
  <HiddenSlides>0</HiddenSlides>
  <MMClips>2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等线 Light</vt:lpstr>
      <vt:lpstr>微软雅黑</vt:lpstr>
      <vt:lpstr>Arial</vt:lpstr>
      <vt:lpstr>Calibri</vt:lpstr>
      <vt:lpstr>Cambria Math</vt:lpstr>
      <vt:lpstr>Tahoma</vt:lpstr>
      <vt:lpstr>实验室PPT模板中文</vt:lpstr>
      <vt:lpstr>Nash Pursuit Strategy for Nonzero-Sum MPC Game via Inverse Optimal Control</vt:lpstr>
      <vt:lpstr>Motivation</vt:lpstr>
      <vt:lpstr>Motivation</vt:lpstr>
      <vt:lpstr>Problem Formulation</vt:lpstr>
      <vt:lpstr>Problem Formulation</vt:lpstr>
      <vt:lpstr>Problem Formulation</vt:lpstr>
      <vt:lpstr>Nash Strategy for MPC-DPEG</vt:lpstr>
      <vt:lpstr>IOC Technique</vt:lpstr>
      <vt:lpstr>Numerical Examples</vt:lpstr>
      <vt:lpstr>Naïve Strategy v.s. Nash Strategy</vt:lpstr>
      <vt:lpstr>Conclusions</vt:lpstr>
      <vt:lpstr>Thank you！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Institute of Medical Robotics</dc:title>
  <dc:creator>宋 博文</dc:creator>
  <cp:lastModifiedBy>Qiu Tianyu</cp:lastModifiedBy>
  <cp:revision>1677</cp:revision>
  <dcterms:created xsi:type="dcterms:W3CDTF">2019-05-07T01:43:00Z</dcterms:created>
  <dcterms:modified xsi:type="dcterms:W3CDTF">2022-05-06T07:19:12Z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3FE50A480FE34ECFBDA3BEBF0DBA104A</vt:lpwstr>
  </property>
  <property fmtid="{D5CDD505-2E9C-101B-9397-08002B2CF9AE}" pid="3" name="KSOProductBuildVer">
    <vt:lpwstr>2052-11.1.0.10578</vt:lpwstr>
  </property>
</Properties>
</file>